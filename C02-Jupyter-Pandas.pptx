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2"/>
  </p:notesMasterIdLst>
  <p:handoutMasterIdLst>
    <p:handoutMasterId r:id="rId33"/>
  </p:handout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59" r:id="rId9"/>
    <p:sldId id="258" r:id="rId10"/>
    <p:sldId id="265" r:id="rId11"/>
    <p:sldId id="266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0" d="100"/>
          <a:sy n="90" d="100"/>
        </p:scale>
        <p:origin x="37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54" d="100"/>
          <a:sy n="54" d="100"/>
        </p:scale>
        <p:origin x="2564" y="48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48C99FE-979D-7049-4FEF-ED265F48A99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A402A4-D0CF-FADD-E563-07EB2266477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3D595A-C534-4126-AD4B-391BF128AAFE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28DDA3-38A5-AD83-AECB-181C23E191B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FDD9-1326-3CAE-FC38-F90A902D574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2A5A50-0EAD-49C3-B5CB-E24E675C56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787782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F1750F-3A37-4978-BDD8-CA8BFE53FFCF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C893B0-1FD6-4B6A-BC81-3A48372353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51355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:a16="http://schemas.microsoft.com/office/drawing/2014/main" id="{718AE611-130E-0D2E-E802-8A36716DB9FC}"/>
              </a:ext>
            </a:extLst>
          </p:cNvPr>
          <p:cNvSpPr txBox="1">
            <a:spLocks/>
          </p:cNvSpPr>
          <p:nvPr/>
        </p:nvSpPr>
        <p:spPr>
          <a:xfrm>
            <a:off x="1523999" y="3556001"/>
            <a:ext cx="9144000" cy="576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  <a:lvl2pPr marL="457200" indent="0" algn="ctr" defTabSz="914400" rtl="0" eaLnBrk="1" latinLnBrk="0" hangingPunct="1">
              <a:lnSpc>
                <a:spcPct val="70000"/>
              </a:lnSpc>
              <a:spcBef>
                <a:spcPts val="6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20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8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C00000"/>
              </a:buClr>
              <a:buSzPct val="120000"/>
              <a:buFont typeface="Wingdings" panose="05000000000000000000" pitchFamily="2" charset="2"/>
              <a:buNone/>
              <a:defRPr sz="1600" kern="1200">
                <a:solidFill>
                  <a:schemeClr val="tx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2000" dirty="0"/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64CE541A-6BE9-11BD-EA23-8EFFEB671B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11" y="779558"/>
            <a:ext cx="10903974" cy="1563935"/>
          </a:xfrm>
          <a:prstGeom prst="roundRect">
            <a:avLst/>
          </a:prstGeom>
          <a:solidFill>
            <a:schemeClr val="accent1"/>
          </a:solidFill>
          <a:effectLst>
            <a:outerShdw blurRad="152400" dist="177800" dir="2700000" algn="tl" rotWithShape="0">
              <a:prstClr val="black">
                <a:alpha val="28000"/>
              </a:prstClr>
            </a:outerShdw>
          </a:effectLst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4B9EEEA-4E55-EBA2-FD56-C7F246D4D4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081211" y="2875826"/>
            <a:ext cx="8029575" cy="888432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Your name here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B7712E16-869E-C669-4D08-61CB38A952E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081211" y="4016919"/>
            <a:ext cx="8029574" cy="11623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 dirty="0"/>
              <a:t>Your Institution here</a:t>
            </a:r>
          </a:p>
        </p:txBody>
      </p:sp>
      <p:sp>
        <p:nvSpPr>
          <p:cNvPr id="22" name="Text Placeholder 19">
            <a:extLst>
              <a:ext uri="{FF2B5EF4-FFF2-40B4-BE49-F238E27FC236}">
                <a16:creationId xmlns:a16="http://schemas.microsoft.com/office/drawing/2014/main" id="{F3E5E026-FF93-380A-0369-EE921FD448E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081211" y="5446367"/>
            <a:ext cx="8029574" cy="80724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pPr lvl="0"/>
            <a:r>
              <a:rPr lang="en-US" dirty="0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5540576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2CAB9-FDBF-45A0-942B-6CD2D2969E6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 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8942EA-E749-4D6C-901E-AB3CC35FD1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CD7A8DE-4E81-1B9E-C59A-4EAF84730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Nhat-Tung 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F5A65D-E5D6-D9D8-F2F3-15F0106E4B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Các công cụ Khoa học dữ liệu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1DBC31-C26C-5121-C688-D671E483E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FC11-EC82-4ABF-AFFA-8422E88B8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36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C0D2D-11F9-48E3-BDFD-009EB9BB22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7A0E9E-29C7-4254-9EF1-22FC64B56FB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3693F-2B5D-47A4-9937-F8D0829FE6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2F39FA0-3E19-D526-8868-D57F63069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Nhat-Tung Le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9DBD2E6-2332-1BF3-4E35-20FC2A3C7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Các công cụ Khoa học dữ liệu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2B3F3F2-4DBF-CF34-23EC-A86421F03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FC11-EC82-4ABF-AFFA-8422E88B8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09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40E5-4C34-4241-9607-30A57A5EF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309205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3C258-E6CF-4250-9ADE-3CCF914218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133117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73D0E3-F2B3-4828-9FE8-79E35EBAD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309205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9FC978-7416-4BEC-A3E2-5F84F45600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133117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CEAA7D5A-E2C3-8158-2C65-6FCE700A0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2743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746AA4AE-5CBB-E3C2-7214-7D2F7572D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Nhat-Tung Le</a:t>
            </a:r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951305C1-B853-FF86-C7D1-E0E9B71E4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Các công cụ Khoa học dữ liệu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C7D36C77-B794-D188-CDB9-829834A75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FC11-EC82-4ABF-AFFA-8422E88B8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30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FB6189-0E78-45C1-8704-51B6FC39FE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5217D2-E09D-B61B-12D8-0D0B70BCE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Nhat-Tung 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4EB204-6B38-8446-1F52-AB40F5CB0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Các công cụ Khoa học dữ liệu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E69B5B3-B203-68F0-BC8C-939AE8DAB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FC11-EC82-4ABF-AFFA-8422E88B8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1722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1BA2CA-43B7-CFEB-A82E-805086070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Nhat-Tung 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D12E6-52D2-70A6-FF8A-7D32269057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Các công cụ Khoa học dữ liệu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A264E2-CD46-217A-CB3F-C1B24128D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FC11-EC82-4ABF-AFFA-8422E88B8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008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B473F-E838-E770-3714-A343B9D798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6EB803-7945-702A-F5F3-D8A1A2D270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FFCDFC-5602-6ABD-406B-80B3A9CC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Nhat-Tung 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A9E810-7982-3A7D-5D9B-3BFB4B1CC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Các công cụ Khoa học dữ liệu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6ED11-895E-1D87-1958-3A97C6DF0D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A8FC11-EC82-4ABF-AFFA-8422E88B88D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9967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2B08E9-BC93-4F3C-8000-6931DF2BB8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907525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2743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FA7735-0958-4F79-9D87-67DA22BCF5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" y="1519311"/>
            <a:ext cx="11353800" cy="28638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This is the first</a:t>
            </a:r>
          </a:p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C9FBB-1B4B-432A-8E9F-8BBCFF5C43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68457"/>
            <a:ext cx="6096000" cy="289543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/>
          <a:lstStyle>
            <a:lvl1pPr algn="r">
              <a:defRPr sz="1400" b="0" i="0">
                <a:solidFill>
                  <a:schemeClr val="bg1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defRPr>
            </a:lvl1pPr>
          </a:lstStyle>
          <a:p>
            <a:r>
              <a:rPr lang="en-US"/>
              <a:t>Các công cụ Khoa học dữ liệu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2F1E52-7DB8-F263-DB4E-89CD576E4F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6000" y="6568457"/>
            <a:ext cx="2743200" cy="28954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l">
              <a:defRPr sz="14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r>
              <a:rPr lang="en-US"/>
              <a:t>Nhat-Tung 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7ED53F-A44E-D7C1-8A87-59E1834463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839200" y="6568457"/>
            <a:ext cx="3352800" cy="289543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bg1"/>
                </a:solidFill>
                <a:latin typeface="CMU Sans Serif Medium" panose="02000603000000000000" pitchFamily="2" charset="0"/>
                <a:ea typeface="CMU Sans Serif Medium" panose="02000603000000000000" pitchFamily="2" charset="0"/>
                <a:cs typeface="CMU Sans Serif Medium" panose="02000603000000000000" pitchFamily="2" charset="0"/>
              </a:defRPr>
            </a:lvl1pPr>
          </a:lstStyle>
          <a:p>
            <a:fld id="{78A8FC11-EC82-4ABF-AFFA-8422E88B88D1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3B20306-4F53-CDAC-E5E3-EB005DBEEC1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01925" y="6331058"/>
            <a:ext cx="3946453" cy="2175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0444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1pPr>
      <a:lvl2pPr marL="685800" indent="-228600" algn="just" defTabSz="914400" rtl="0" eaLnBrk="1" latinLnBrk="0" hangingPunct="1">
        <a:lnSpc>
          <a:spcPct val="110000"/>
        </a:lnSpc>
        <a:spcBef>
          <a:spcPts val="6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Clr>
          <a:schemeClr val="accent1"/>
        </a:buClr>
        <a:buSzPct val="12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MU Sans Serif Medium" panose="02000603000000000000" pitchFamily="2" charset="0"/>
          <a:ea typeface="CMU Sans Serif Medium" panose="02000603000000000000" pitchFamily="2" charset="0"/>
          <a:cs typeface="CMU Sans Serif Medium" panose="02000603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CÁC CÔNG CỤ KHOA HỌC DỮ LIỆU</a:t>
            </a:r>
          </a:p>
        </p:txBody>
      </p:sp>
      <p:sp>
        <p:nvSpPr>
          <p:cNvPr id="10" name="Author"/>
          <p:cNvSpPr>
            <a:spLocks noGrp="1"/>
          </p:cNvSpPr>
          <p:nvPr>
            <p:ph type="body" sz="quarter" idx="13"/>
          </p:nvPr>
        </p:nvSpPr>
        <p:spPr>
          <a:xfrm>
            <a:off x="2081211" y="5634226"/>
            <a:ext cx="8029575" cy="888432"/>
          </a:xfrm>
        </p:spPr>
        <p:txBody>
          <a:bodyPr/>
          <a:lstStyle/>
          <a:p>
            <a:r>
              <a:rPr lang="en-US" dirty="0"/>
              <a:t>Nhat-Tung Le</a:t>
            </a:r>
          </a:p>
        </p:txBody>
      </p:sp>
      <p:sp>
        <p:nvSpPr>
          <p:cNvPr id="12" name="Lesson"/>
          <p:cNvSpPr>
            <a:spLocks noGrp="1"/>
          </p:cNvSpPr>
          <p:nvPr>
            <p:ph type="body" sz="quarter" idx="14"/>
          </p:nvPr>
        </p:nvSpPr>
        <p:spPr>
          <a:xfrm>
            <a:off x="644011" y="3238500"/>
            <a:ext cx="10824089" cy="1162300"/>
          </a:xfrm>
        </p:spPr>
        <p:txBody>
          <a:bodyPr>
            <a:noAutofit/>
          </a:bodyPr>
          <a:lstStyle/>
          <a:p>
            <a:r>
              <a:rPr lang="vi-VN" sz="5400" dirty="0"/>
              <a:t>BÀI 2: JUPYTER NOTEBOOK &amp; PANDAS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Mục tiêu bài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Sau khi học xong bài này, sinh viên có thể: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900" dirty="0"/>
              <a:t>Vận hành được môi trường Jupyter Notebook cho phân tích dữ liệu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900" dirty="0"/>
              <a:t>Sử dụng thành thạo Series và DataFrame của Pandas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900" dirty="0"/>
              <a:t>Đọc và ghi dữ liệu từ CSV, Excel bằng Pandas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900" dirty="0"/>
              <a:t>Biến đổi, làm sạch dữ liệu (xử lý thiếu, trùng, chuẩn hoá)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900" dirty="0"/>
              <a:t>Tính toán thống kê mô tả và nhóm dữ liệu với groupby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900" dirty="0"/>
              <a:t>Vẽ biểu đồ cơ bản bằng Pandas, Matplotlib và Seaborn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Nội dung bài học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2000" b="1" dirty="0">
                <a:solidFill>
                  <a:srgbClr val="1F497D"/>
                </a:solidFill>
              </a:rPr>
              <a:t>Phần 1 – Làm quen Jupyter Notebook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Khởi chạy, giao diện Dashboard, tạo notebook, cells, phím tắt, kernel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2000" b="1" dirty="0">
                <a:solidFill>
                  <a:srgbClr val="1F497D"/>
                </a:solidFill>
              </a:rPr>
              <a:t>Phần 2 – Cấu trúc dữ liệu Pandas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Series (1D), DataFrame (2D), indexing, slicing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2000" b="1" dirty="0">
                <a:solidFill>
                  <a:srgbClr val="1F497D"/>
                </a:solidFill>
              </a:rPr>
              <a:t>Phần 3 – Đọc / Ghi dữ liệu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pd.read_csv(), pd.read_excel(), to_csv(), to_excel()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2000" b="1" dirty="0">
                <a:solidFill>
                  <a:srgbClr val="1F497D"/>
                </a:solidFill>
              </a:rPr>
              <a:t>Phần 4 – Biến đổi &amp; Làm sạch dữ liệu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Thêm/xoá/đổi tên cột, astype(), apply(), xử lý NaN, trùng lặp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2000" b="1" dirty="0">
                <a:solidFill>
                  <a:srgbClr val="1F497D"/>
                </a:solidFill>
              </a:rPr>
              <a:t>Phần 5 – Thống kê mô tả &amp; Groupby &amp; Trực quan hoá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describe(), value_counts(), corr(), groupby(), pivot_table(), plot()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Làm quen Jupyter Notebook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200" b="1" dirty="0"/>
              <a:t>Jupyter Notebook là gì?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dirty="0"/>
              <a:t>Jupyter Notebook là ứng dụng web chạy trên máy cá nhân, mở trình duyệt tại địa chỉ http://localhost:8888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Đặc điểm nổi bật: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Viết code Python và thấy kết quả ngay lập tức bên dưới mỗi ô lệnh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Xen kẽ code, văn bản giải thích, biểu đồ trong cùng một tài liệu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Phù hợp để phân tích dữ liệu, học máy, báo cáo kỹ thuật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Hai thành phần chính: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Dashboard: trang quản lý file và notebook (giống File Explorer)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Notebook Editor: nơi viết code và markdown, chia thành các cell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Khởi chạy Jupyter Notebook</a:t>
            </a:r>
          </a:p>
        </p:txBody>
      </p:sp>
      <p:sp>
        <p:nvSpPr>
          <p:cNvPr id="3" name="Left Col"/>
          <p:cNvSpPr>
            <a:spLocks noGrp="1"/>
          </p:cNvSpPr>
          <p:nvPr>
            <p:ph idx="1"/>
          </p:nvPr>
        </p:nvSpPr>
        <p:spPr>
          <a:xfrm>
            <a:off x="419100" y="1524000"/>
            <a:ext cx="5486400" cy="4686300"/>
          </a:xfrm>
        </p:spPr>
        <p:txBody>
          <a:bodyPr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Cách 1: Qua Anaconda Navigator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Mở Anaconda Navigator từ Start Menu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Tìm ô Jupyter Notebook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Nhấn Launch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Trình duyệt tự mở Dashboard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700" dirty="0">
                <a:solidFill>
                  <a:srgbClr val="375623"/>
                </a:solidFill>
              </a:rPr>
              <a:t>Phù hợp cho người mới bắt đầu</a:t>
            </a:r>
          </a:p>
        </p:txBody>
      </p:sp>
      <p:sp>
        <p:nvSpPr>
          <p:cNvPr id="4" name="Right Col"/>
          <p:cNvSpPr/>
          <p:nvPr/>
        </p:nvSpPr>
        <p:spPr>
          <a:xfrm>
            <a:off x="6286500" y="1524000"/>
            <a:ext cx="5486400" cy="4686300"/>
          </a:xfrm>
          <a:prstGeom prst="rect">
            <a:avLst/>
          </a:prstGeom>
          <a:solidFill>
            <a:srgbClr val="EEF4FB"/>
          </a:solidFill>
        </p:spPr>
        <p:txBody>
          <a:bodyPr lIns="228600" tIns="182880" rIns="228600" bIns="182880"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Cách 2: Qua dòng lệnh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Mở Anaconda Prompt (Windows)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Chuyển đến thư mục làm việc: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cd D:\Projects\DataAnalysis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Gõ lệnh: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jupyter notebook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700" dirty="0">
                <a:solidFill>
                  <a:srgbClr val="375623"/>
                </a:solidFill>
              </a:rPr>
              <a:t>Linh hoạt hơn, dùng được virtual environment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Sử dụng Cells (Ô lệnh)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800" b="1" dirty="0"/>
              <a:t>Cell là gì?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600" dirty="0"/>
              <a:t>Cell là đơn vị làm việc cơ bản trong notebook – mỗi cell chứa code hoặc văn bản và có thể chạy độc lập.</a:t>
            </a:r>
          </a:p>
          <a:p>
            <a:pPr>
              <a:lnSpc>
                <a:spcPct val="100000"/>
              </a:lnSpc>
            </a:pPr>
            <a:endParaRPr lang="vi-V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800" b="1" dirty="0"/>
              <a:t>Code Cell – viết và chạy Python:</a:t>
            </a:r>
          </a:p>
          <a:p>
            <a:pPr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1F3864"/>
                </a:solidFill>
                <a:latin typeface="Consolas"/>
              </a:rPr>
              <a:t>a = 2</a:t>
            </a:r>
          </a:p>
          <a:p>
            <a:pPr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1F3864"/>
                </a:solidFill>
                <a:latin typeface="Consolas"/>
              </a:rPr>
              <a:t>b = 3</a:t>
            </a:r>
          </a:p>
          <a:p>
            <a:pPr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1F3864"/>
                </a:solidFill>
                <a:latin typeface="Consolas"/>
              </a:rPr>
              <a:t>a + b     #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Kết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quả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: Out[1]: 5</a:t>
            </a:r>
          </a:p>
          <a:p>
            <a:pPr>
              <a:lnSpc>
                <a:spcPct val="100000"/>
              </a:lnSpc>
            </a:pPr>
            <a:endParaRPr lang="vi-V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800" b="1" dirty="0"/>
              <a:t>Markdown Cell – viết văn bản định dạng:</a:t>
            </a:r>
          </a:p>
          <a:p>
            <a:pPr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1F3864"/>
                </a:solidFill>
                <a:latin typeface="Consolas"/>
              </a:rPr>
              <a:t>#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Phân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tích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doanh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thu</a:t>
            </a:r>
            <a:endParaRPr lang="en-US" sz="14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1F3864"/>
                </a:solidFill>
                <a:latin typeface="Consolas"/>
              </a:rPr>
              <a:t>Trong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phần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này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chúng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ta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sẽ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:</a:t>
            </a:r>
          </a:p>
          <a:p>
            <a:pPr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1F3864"/>
                </a:solidFill>
                <a:latin typeface="Consolas"/>
              </a:rPr>
              <a:t>-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Đọc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dữ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liệu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từ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CSV</a:t>
            </a:r>
          </a:p>
          <a:p>
            <a:pPr indent="0">
              <a:lnSpc>
                <a:spcPct val="100000"/>
              </a:lnSpc>
              <a:spcAft>
                <a:spcPts val="0"/>
              </a:spcAft>
              <a:buNone/>
            </a:pPr>
            <a:r>
              <a:rPr lang="en-US" sz="1400" dirty="0">
                <a:solidFill>
                  <a:srgbClr val="1F3864"/>
                </a:solidFill>
                <a:latin typeface="Consolas"/>
              </a:rPr>
              <a:t>- Làm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sạch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dữ</a:t>
            </a:r>
            <a:r>
              <a:rPr lang="en-US" sz="1400" dirty="0">
                <a:solidFill>
                  <a:srgbClr val="1F3864"/>
                </a:solidFill>
                <a:latin typeface="Consolas"/>
              </a:rPr>
              <a:t> </a:t>
            </a:r>
            <a:r>
              <a:rPr lang="en-US" sz="1400" dirty="0" err="1">
                <a:solidFill>
                  <a:srgbClr val="1F3864"/>
                </a:solidFill>
                <a:latin typeface="Consolas"/>
              </a:rPr>
              <a:t>liệu</a:t>
            </a:r>
            <a:endParaRPr lang="vi-VN" sz="16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600" dirty="0">
                <a:solidFill>
                  <a:srgbClr val="375623"/>
                </a:solidFill>
              </a:rPr>
              <a:t>Khi chạy Markdown cell, kết quả hiển thị với tiêu đề, bullet, chữ đậm – giống trang web.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Phím tắt và Quản lý Kernel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2000" b="1" dirty="0"/>
              <a:t>Hai chế độ thao tác: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800" dirty="0"/>
              <a:t>Edit Mode (viền xanh lá): đang soạn nội dung bên trong cell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800" dirty="0"/>
              <a:t>Command Mode (viền xanh dương): điều khiển cấu trúc notebook, nhấn Esc để vào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2000" b="1" dirty="0"/>
              <a:t>Phím tắt trong Command Mode: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Shift+Enter   – Chạy cell, chuyển xuống cell tiếp theo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Ctrl+Enter    – Chạy cell, giữ nguyên vị trí (chạy lại nhiều lần)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Alt+Enter     – Chạy cell và chèn thêm cell mới bên dưới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A / B         – Thêm cell phía trên / phía dưới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DD            – Xoá cell (nhấn D hai lần)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Y / M         – Đổi cell về Code / Markdown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1700" dirty="0">
                <a:solidFill>
                  <a:srgbClr val="843C0C"/>
                </a:solidFill>
              </a:rPr>
              <a:t>Kernel: Kernel &gt; Restart &amp; Clear Output để reset toàn bộ biến và xoá output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Giới thiệu thư viện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dirty="0"/>
              <a:t>Pandas là thư viện Python chuẩn cho phân tích dữ liệu dạng bảng.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Pandas dùng để làm gì?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Đọc dữ liệu từ CSV, Excel, SQL, JSON vào bộ nhớ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Làm sạch, biến đổi, trích chọn, tổng hợp dữ liệu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Chuẩn bị dữ liệu cho scikit-learn, NumPy, các mô hình ML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Kết hợp Matplotlib/Seaborn để vẽ biểu đồ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Hai cấu trúc trung tâm: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Series   – mảng 1 chiều có nhãn (như một cột dữ liệu)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DataFrame – bảng 2 chiều, mỗi cột là một Series (như bảng Excel)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Import theo quy ước chuẩn: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pandas as pd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print(pd.__version__)   # kiểm tra phiên bản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Cấu trúc dữ liệu Series (1D)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dirty="0"/>
              <a:t>Series là mảng 1 chiều có nhãn (index + values)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Tạo Series từ list: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pandas as pd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data = [10, 20, 30, 40]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 = pd.Series(data)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Kết quả:  0  10 / 1  20 / 2  30 / 3  40 / dtype: int64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Tạo Series với index tuỳ ý: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 = pd.Series(data, index=['Q1','Q2','Q3','Q4'])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Tạo Series từ dict: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scores = {'An': 8.5, 'Binh': 7.0, 'Chi': 9.0}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s_scores = pd.Series(scores)   # key -&gt; index, value -&gt; value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Truy xuất dữ liệu: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s[0]               # theo vị trí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s_scores['An']     # theo nhãn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s.loc['Q1']        # theo nhãn (rõ ràng)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s.iloc[0]          # theo vị trí (rõ ràng)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Cấu trúc dữ liệu DataFrame (2D)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DataFrame là bảng 2 chiều – nhiều hàng, nhiều cột, mỗi cột có thể có kiểu khác nhau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Tạo DataFrame từ dict: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data = {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'ten': ['An', 'Binh', 'Chi'],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'tuoi': [23, 25, 22],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'diem': [8.0, 7.5, 9.0]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}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pd.DataFrame(data)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Xem nhanh dữ liệu: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df.head()      # 5 hàng đầu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df.tail()      # 5 hàng cuối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df.info()      # kiểu dữ liệu, số hàng, giá trị thiếu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df.shape       # (số_hàng, số_cột)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df.dtypes      # kiểu dữ liệu từng cột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Indexing &amp; Slicing – Truy xuất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Chọn cột: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df['tuoi']              # trả về Series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df[['ten', 'diem']]     # nhiều cột -&gt; DataFrame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Truy xuất theo nhãn với .loc: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df.loc[0]                   # hàng index=0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df.loc[0:2, ['ten','diem']] # hàng 0-2, cột chỉ định</a:t>
            </a:r>
          </a:p>
          <a:p>
            <a:pPr indent="0">
              <a:lnSpc>
                <a:spcPts val="2800"/>
              </a:lnSpc>
              <a:spcAft>
                <a:spcPts val="200"/>
              </a:spcAft>
              <a:buNone/>
            </a:pPr>
            <a:r>
              <a:rPr lang="vi-VN" sz="1600" dirty="0">
                <a:solidFill>
                  <a:srgbClr val="843C0C"/>
                </a:solidFill>
              </a:rPr>
              <a:t>Lưu ý: .loc bao gồm cả điểm cuối (0:2 = hàng 0, 1, 2)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Truy xuất theo vị trí với .iloc: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df.iloc[0]         # hàng thứ 0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df.iloc[0:2, 0:2]  # hàng 0-1, cột 0-1 (không gồm điểm cuối)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Lọc có điều kiện (Boolean indexing):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df[df['tuoi'] &gt; 23]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df[(df['tuoi'] &gt; 23) &amp; (df['diem'] &gt;= 8.0)]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600" dirty="0">
                <a:solidFill>
                  <a:srgbClr val="375623"/>
                </a:solidFill>
              </a:rPr>
              <a:t>Kết quả là DataFrame con chỉ chứa các hàng thoả điều kiện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Đọc dữ liệu từ CSV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85000" lnSpcReduction="100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Đọc file CSV với pd.read_csv():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pandas as pd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pd.read_csv('sales.csv')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File cùng thư mục với notebook</a:t>
            </a:r>
          </a:p>
          <a:p>
            <a:pPr marL="0" indent="0">
              <a:lnSpc>
                <a:spcPts val="1200"/>
              </a:lnSpc>
              <a:buNone/>
            </a:pPr>
            <a:endParaRPr lang="vi-VN" sz="1800" dirty="0"/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pd.read_csv('data/sales.csv')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File trong thư mục con data/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Các tham số quan trọng: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sep: ký tự phân cách cột. Mặc định là ','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pd.read_csv('orders.csv', sep=';')   # file dùng ;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pd.read_csv('logs.tsv', sep='\t')  # file dùng tab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encoding: bảng mã. Quan trọng với tiếng Việt!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pd.read_csv('du_lieu.csv', encoding='utf-8-sig')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dùng utf-8-sig nếu tạo file từ Excel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700" dirty="0">
                <a:solidFill>
                  <a:srgbClr val="843C0C"/>
                </a:solidFill>
              </a:rPr>
              <a:t>Sau khi đọc, luôn kiểm tra ngay: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df.head()   # xem dữ liệu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df.info()   # kiểu cột, số hàng, giá trị thiếu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Đọc dữ liệu từ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925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Đọc file Excel với pd.read_excel():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pd.read_excel('du_lieu.xlsx')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mặc định đọc sheet đầu tiên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Chỉ định sheet cần đọc: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df_2023 = pd.read_excel('bao_cao.xlsx', sheet_name='2023')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df_sh2  = pd.read_excel('bao_cao.xlsx', sheet_name=1)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sheet_name=1 -&gt; sheet thứ hai (đếm từ 0)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Đọc nhiều sheet cùng lúc: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dfs = pd.read_excel('bao_cao.xlsx', sheet_name=['2023','2024'])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dfs['2023'] và dfs['2024'] là hai DataFrame riêng biệt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Tuỳ chọn hữu ích: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pd.read_excel('du_lieu.xlsx', skiprows=2)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bỏ qua 2 dòng đầu (chứa ghi chú/metadata)</a:t>
            </a:r>
          </a:p>
          <a:p>
            <a:pPr marL="0" indent="0">
              <a:lnSpc>
                <a:spcPts val="1200"/>
              </a:lnSpc>
              <a:buNone/>
            </a:pPr>
            <a:endParaRPr lang="vi-VN" sz="1800" dirty="0"/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pd.read_excel('du_lieu.xlsx', index_col='OrderID')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đặt cột OrderID làm index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Ghi dữ liệu ra CSV và Excel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Ghi ra file CSV: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df.to_csv('ket_qua.csv')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Mặc định: ghi tên cột + ghi index (cột số thứ tự)</a:t>
            </a:r>
          </a:p>
          <a:p>
            <a:pPr marL="0" indent="0">
              <a:lnSpc>
                <a:spcPts val="1200"/>
              </a:lnSpc>
              <a:buNone/>
            </a:pPr>
            <a:endParaRPr lang="vi-VN" sz="1800" dirty="0"/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df.to_csv('ket_qua.csv', index=False)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index=False: không lưu cột index -&gt; khuyến nghị dùng</a:t>
            </a:r>
          </a:p>
          <a:p>
            <a:pPr marL="0" indent="0">
              <a:lnSpc>
                <a:spcPts val="1200"/>
              </a:lnSpc>
              <a:buNone/>
            </a:pPr>
            <a:endParaRPr lang="vi-VN" sz="1800" dirty="0"/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df.to_csv('vn.csv', index=False, encoding='utf-8-sig')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utf-8-sig: tránh lỗi tiếng Việt khi mở bằng Excel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Ghi ra file Excel: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df.to_excel('ket_qua.xlsx', index=False)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Ghi nhiều DataFrame vào nhiều sheet: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with pd.ExcelWriter('bao_cao.xlsx') as writer: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df_2023.to_excel(writer, sheet_name='Nam 2023', index=False)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df_2024.to_excel(writer, sheet_name='Nam 2024', index=False)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700" dirty="0">
                <a:solidFill>
                  <a:srgbClr val="843C0C"/>
                </a:solidFill>
              </a:rPr>
              <a:t>Lưu ý: Không ghi đè lên file gốc, luôn tạo file mới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Biến đổi dữ liệu – Thao tác với cột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85000" lnSpcReduction="100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Thêm cột mới: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pandas as pd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pd.read_csv('sales.csv')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Tạo cột doanh thu = số_lượng x đơn_giá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df['doanh_thu'] = df['so_luong'] * df['don_gia']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Thêm cột hằng số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df['quoc_gia'] = 'VN’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endParaRPr lang="en-US" sz="1900" b="1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Xoá cột: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df.drop(columns=['quoc_gia'])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df.drop(columns=['cot1', 'cot2'])  # xoá nhiều cột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Đổi tên cột: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df.rename(columns={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'don_gia': 'gia',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'so_luong': 'sl'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})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600" dirty="0">
                <a:solidFill>
                  <a:srgbClr val="375623"/>
                </a:solidFill>
              </a:rPr>
              <a:t>Sau mỗi thao tác, dùng df.head() hoặc df.columns để kiểm tra kết quả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Biến đổi dữ liệu – Kiểu dữ liệu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Ép kiểu với astype():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df['so_luong'] = df['so_luong'].astype(int)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df['gia']      = df['gia'].astype(float)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df['ma_sp']    = df['ma_sp'].astype(str)</a:t>
            </a:r>
          </a:p>
          <a:p>
            <a:pPr marL="0" indent="0">
              <a:lnSpc>
                <a:spcPts val="1200"/>
              </a:lnSpc>
              <a:buNone/>
            </a:pPr>
            <a:endParaRPr lang="vi-VN" sz="1800" dirty="0"/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Kiểm tra kiểu dữ liệu sau khi ép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print(df.dtypes)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Chuyển cột ngày tháng với pd.to_datetime():</a:t>
            </a:r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Trong CSV, ngày tháng thường được lưu dạng chuỗi như '2024-01-15'. Cần chuyển sang kiểu datetime để tính toán theo thời gian: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df['ngay_dat'] = pd.to_datetime(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df['ngay_dat'],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format='%Y-%m-%d',   # ví dụ: 2024-01-15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errors='coerce'      # giá trị lỗi -&gt; NaT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700" dirty="0">
                <a:solidFill>
                  <a:srgbClr val="375623"/>
                </a:solidFill>
              </a:rPr>
              <a:t>Sau khi chuyển, có thể trích xuất thông tin: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df['thang'] = df['ngay_dat'].dt.month</a:t>
            </a:r>
          </a:p>
          <a:p>
            <a:pPr indent="0">
              <a:lnSpc>
                <a:spcPts val="24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df['nam']   = df['ngay_dat'].dt.year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Biến đổi dữ liệu – apply() và map()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85000" lnSpcReduction="10000"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1900" b="1" dirty="0"/>
              <a:t>Series.apply() – áp dụng hàm trên từng phần tử của một cột: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Chuẩn hoá tên sản phẩm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df['ten_chuan'] = df['ten'].apply(lambda x: x.strip().lower())</a:t>
            </a:r>
          </a:p>
          <a:p>
            <a:pPr marL="0" indent="0">
              <a:lnSpc>
                <a:spcPct val="120000"/>
              </a:lnSpc>
              <a:buNone/>
            </a:pPr>
            <a:endParaRPr lang="vi-VN" sz="1800" dirty="0"/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Phân loại điểm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def phan_loai(x):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if x &gt;= 8:   return 'Gioi'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elif x &gt;= 5: return 'Trung binh'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else:        return 'Yeu'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df['xep_loai'] = df['diem'].apply(phan_loai)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1900" b="1" dirty="0"/>
              <a:t>Series.map() – ánh xạ theo bảng tra: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vung_map = {'HN': 'Mien Bac', 'HCM': 'Mien Nam', 'DN': 'Mien Trung'}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df['ten_vung'] = df['ma_vung'].map(vung_map)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600" dirty="0">
                <a:solidFill>
                  <a:srgbClr val="843C0C"/>
                </a:solidFill>
              </a:rPr>
              <a:t>Giá trị không có trong bảng tra sẽ thành NaN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1900" b="1" dirty="0"/>
              <a:t>DataFrame.apply(axis=1) – dùng nhiều cột: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def uu_tien(row):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if row['doanh_thu'] &gt; 1_000_000 and row['sl'] &gt;= 10: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    return 'Cao'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return 'Binh thuong'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df['uu_tien'] = df.apply(uu_tien, axis=1)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Làm sạch dữ liệu – Xử lý giá trị thiếu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77500" lnSpcReduction="200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Pandas dùng NaN (Not a Number) để biểu thị giá trị thiếu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Phát hiện giá trị thiếu: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df.isna()           # bảng True/False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df.isna().sum()     # đếm số NaN theo từng cột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Loại bỏ hàng / cột có giá trị thiếu: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df_clean = df.dropna()         # xoá hàng có ít nhất 1 NaN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df_clean = df.dropna(axis=1)   # xoá cột có NaN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df_clean = df.dropna(how='all') # chỉ xoá khi toàn hàng là NaN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Điền giá trị thay thế với fillna():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df['gia'] = df['gia'].fillna(df['gia'].mean())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Điền bằng giá trị trung bình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df['tuoi'] = df['tuoi'].fillna(df['tuoi'].median())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Điền bằng trung vị (ít bị ảnh hưởng bởi outlier hơn)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df['danh_muc'] = df['danh_muc'].fillna('Khong xac dinh')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Điền bằng nhãn cố định cho cột phân loại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600" dirty="0">
                <a:solidFill>
                  <a:srgbClr val="843C0C"/>
                </a:solidFill>
              </a:rPr>
              <a:t>Lưu ý: Không nên xoá quá nhiều hàng nếu tập dữ liệu nhỏ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Làm sạch dữ liệu – Trùng lặp &amp; Chuỗi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Xử lý dữ liệu trùng lặp: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Phát hiện bản ghi trùng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dup = df.duplicated()      # Series True/False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print(dup.sum())           # số bản ghi trùng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Xem các bản ghi trùng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df[df.duplicated()]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Loại bỏ trùng lặp (giữ bản đầu tiên)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df_unique = df.drop_duplicates()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Trùng lặp theo cột khoá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df_unique = df.drop_duplicates(subset=['ma_khach_hang'])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Chuẩn hoá dữ liệu văn bản với .str: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Xoá khoảng trắng đầu/cuối, chuyển về chữ thường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df['ten_sp'] = df['ten_sp'].str.strip().str.lower()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Thay thế chuỗi con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df['thanh_pho'] = df['thanh_pho'].str.replace('TP.', 'Thanh pho ')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600" dirty="0">
                <a:solidFill>
                  <a:srgbClr val="375623"/>
                </a:solidFill>
              </a:rPr>
              <a:t>Các hàm .str thường dùng: strip(), lower(), upper(), title(), replace(), contains()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Thống kê mô tả với Pandas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925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Tổng quan nhanh với df.describe():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summary = df.describe()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Trả về: count, mean, std, min, 25%, 50%, 75%, max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cho tất cả các cột số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df.describe(include='object')  # cho cột phân loại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df.describe(include='all')     # tất cả cột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Các hàm thống kê đơn lẻ: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df['doanh_thu'].mean()          # trung bình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df['doanh_thu'].median()        # trung vị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df['doanh_thu'].std()           # độ lệch chuẩn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df['doanh_thu'].min()           # nhỏ nhất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df['doanh_thu'].max()           # lớn nhất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df['doanh_thu'].quantile(0.75)  # phân vị 75%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Phân tích biến phân loại: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df['danh_muc'].nunique()          # số loại khác nhau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df['danh_muc'].value_counts()     # tần suất từng loại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df['danh_muc'].value_counts(normalize=True)  # tỷ lệ %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Ma trận tương quan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77500" lnSpcReduction="200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Ma trận tương quan giúp nhận diện mối quan hệ tuyến tính giữa các biến số: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Tính ma trận tương quan: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corr_matrix = df.corr(numeric_only=True)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corr_matrix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Giá trị từ -1 đến 1: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1.0  = tương quan dương hoàn hảo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-1.0 = tương quan âm hoàn hảo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0    = không có tương quan tuyến tính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Vẽ heatmap tương quan bằng Seaborn: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seaborn as sns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matplotlib.pyplot as plt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corr = df.corr(numeric_only=True)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plt.figure(figsize=(8, 6))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sns.heatmap(corr, annot=True, cmap='coolwarm', center=0)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plt.title('Ma tran tuong quan')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600" dirty="0">
                <a:solidFill>
                  <a:srgbClr val="375623"/>
                </a:solidFill>
              </a:rPr>
              <a:t>Ô màu đỏ đậm = tương quan dương mạnh, ô màu xanh đậm = tương quan âm mạnh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Nhóm dữ liệu với groupby()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925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GroupBy là công cụ nhóm và tổng hợp dữ liệu theo các nhóm (vùng, sản phẩm, tháng...)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2000" b="1" dirty="0"/>
              <a:t>Mô hình tư duy: Split – Apply – Combine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Split    – Chia DataFrame thành các nhóm nhỏ theo cột khoá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Apply    – Áp dụng hàm tổng hợp (sum, mean, count...) trên từng nhóm</a:t>
            </a:r>
          </a:p>
          <a:p>
            <a:pPr marL="457200"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Combine  – Ghép kết quả thành một DataFrame mới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Ví dụ: df có cột vung, san_pham, so_luong, doanh_thu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Tổng doanh thu theo vùng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dt_theo_vung = df.groupby('vung')['doanh_thu'].sum()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Nhiều hàm tổng hợp cùng lúc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df.groupby('vung')['doanh_thu'].agg(['sum', 'mean', 'count'])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Nhóm theo nhiều cột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df.groupby(['vung', 'san_pham'])['doanh_thu'].sum()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600" dirty="0">
                <a:solidFill>
                  <a:srgbClr val="375623"/>
                </a:solidFill>
              </a:rPr>
              <a:t>Kết quả groupby là DataFrame với index là cột khoá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agg() và Pivot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85000" lnSpcReduction="100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Tổng hợp linh hoạt với .agg():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summary = df.groupby('vung').agg(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tong_sl=('so_luong', 'sum'),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tb_dt =('doanh_thu', 'mean'),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tong_dt=('doanh_thu', 'sum')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Tên cột kết quả: tong_sl, tb_dt, tong_dt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900" b="1" dirty="0"/>
              <a:t>Pivot Table – bảng tổng hợp 2 chiều:</a:t>
            </a:r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700" dirty="0"/>
              <a:t>Giống Pivot Table trong Excel, nhưng chạy bằng code trực tiếp trên DataFrame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pivot = pd.pivot_table(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df,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values='doanh_thu',     # cột cần tổng hợp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index='vung',           # nhóm theo hàng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columns='san_pham',     # nhóm theo cột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aggfunc='sum',          # hàm tổng hợp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    fill_value=0            # thay NaN bằng 0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600" dirty="0">
                <a:solidFill>
                  <a:srgbClr val="375623"/>
                </a:solidFill>
              </a:rPr>
              <a:t>Kết quả: bảng 2 chiều, mỗi ô là tổng doanh thu của cặp (vung, san_pham)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Trực quan hoá với Pandas .plot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925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Pandas tích hợp sẵn .plot để vẽ nhanh các biểu đồ cơ bản: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700" b="1" dirty="0"/>
              <a:t>Cần import matplotlib để hiển thị: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matplotlib.pyplot as plt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b="1" dirty="0"/>
              <a:t>Biểu đồ đường (line):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df.plot(x='ngay', y='doanh_thu', kind='line')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b="1" dirty="0"/>
              <a:t>Biểu đồ cột (bar):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df.plot(x='san_pham', y='doanh_thu', kind='bar')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b="1" dirty="0"/>
              <a:t>Biểu đồ phân phối (histogram):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df['doanh_thu'].plot(kind='hist', bins=20)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b="1" dirty="0"/>
              <a:t>Scatter plot (quan hệ giữa 2 biến số):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df.plot(x='so_luong', y='doanh_thu', kind='scatter')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600" dirty="0">
                <a:solidFill>
                  <a:srgbClr val="375623"/>
                </a:solidFill>
              </a:rPr>
              <a:t>Kết quả hiện ngay dưới cell trong Jupyter – không cần cửa sổ riêng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Giới thiệu Matplotlib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92500" lnSpcReduction="10000"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1800" dirty="0"/>
              <a:t>Matplotlib là nền tảng vẽ biểu đồ mức thấp của Python – kiểm soát mọi chi tiết: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1700" dirty="0"/>
              <a:t>Cấu trúc: Figure (khung tổng thể) chứa nhiều Axes (hệ trục)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1900" b="1" dirty="0"/>
              <a:t>Ví dụ hoàn chỉnh:</a:t>
            </a: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matplotlib.pyplot as plt</a:t>
            </a: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fig, ax = plt.subplots(figsize=(8, 4))</a:t>
            </a: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ax.plot(df['ngay'], df['doanh_thu'], marker='o')</a:t>
            </a: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ax.set_title('Doanh thu theo ngay')</a:t>
            </a: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ax.set_xlabel('Ngay')</a:t>
            </a: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ax.set_ylabel('Doanh thu (VND)')</a:t>
            </a: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ax.grid(True)</a:t>
            </a: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plt.tight_layout()</a:t>
            </a:r>
          </a:p>
          <a:p>
            <a:pPr marL="457200">
              <a:lnSpc>
                <a:spcPct val="1200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1700" dirty="0">
                <a:solidFill>
                  <a:srgbClr val="375623"/>
                </a:solidFill>
              </a:rPr>
              <a:t>Giải thích tham số: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600" dirty="0"/>
              <a:t>figsize=(8,4): kích thước hình (inch chiều rộng x cao)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600" dirty="0"/>
              <a:t>marker='o': hiển thị điểm tại mỗi giá trị dữ liệu</a:t>
            </a:r>
          </a:p>
          <a:p>
            <a:pPr marL="457200">
              <a:lnSpc>
                <a:spcPct val="120000"/>
              </a:lnSpc>
              <a:spcAft>
                <a:spcPts val="200"/>
              </a:spcAft>
            </a:pPr>
            <a:r>
              <a:rPr lang="vi-VN" sz="1600" dirty="0"/>
              <a:t>tight_layout(): tự điều chỉnh khoảng cách để không bị chồng nhãn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Giới thiệu Seaborn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dirty="0"/>
              <a:t>Seaborn xây dựng trên Matplotlib, API cấp cao, nhận trực tiếp DataFrame: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seaborn as sns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matplotlib.pyplot as plt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sns.set_theme()   # bật style đẹp mặc định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b="1" dirty="0"/>
              <a:t>Histogram với đường mật độ (KDE):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sns.histplot(data=df, x='doanh_thu', kde=True)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b="1" dirty="0"/>
              <a:t>Boxplot so sánh phân phối giữa các nhóm: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sns.boxplot(data=df, x='vung', y='doanh_thu')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b="1" dirty="0"/>
              <a:t>Scatter plot với màu theo nhóm: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sns.scatterplot(data=df, x='so_luong', y='doanh_thu', hue='vung')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  <a:p>
            <a:pPr>
              <a:lnSpc>
                <a:spcPts val="1200"/>
              </a:lnSpc>
            </a:pPr>
            <a:endParaRPr lang="vi-VN" sz="1800" dirty="0"/>
          </a:p>
          <a:p>
            <a:pPr>
              <a:lnSpc>
                <a:spcPts val="2800"/>
              </a:lnSpc>
              <a:spcAft>
                <a:spcPts val="200"/>
              </a:spcAft>
            </a:pPr>
            <a:r>
              <a:rPr lang="vi-VN" sz="1800" b="1" dirty="0"/>
              <a:t>Heatmap tương quan: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corr = df.corr(numeric_only=True)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sns.heatmap(corr, annot=True, cmap='coolwarm', center=0)</a:t>
            </a:r>
          </a:p>
          <a:p>
            <a:pPr marL="457200">
              <a:lnSpc>
                <a:spcPts val="2400"/>
              </a:lnSpc>
              <a:spcAft>
                <a:spcPts val="0"/>
              </a:spcAft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Ví dụ tổng hợp – Quy trình phân tích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 numCol="2">
            <a:normAutofit fontScale="85000" lnSpcReduction="20000"/>
          </a:bodyPr>
          <a:lstStyle/>
          <a:p>
            <a:pPr>
              <a:lnSpc>
                <a:spcPct val="120000"/>
              </a:lnSpc>
              <a:spcAft>
                <a:spcPts val="200"/>
              </a:spcAft>
            </a:pPr>
            <a:r>
              <a:rPr lang="vi-VN" sz="1900" b="1" dirty="0"/>
              <a:t>Quy trình phân tích hoàn chỉnh trên bộ dữ liệu sales.csv:</a:t>
            </a:r>
          </a:p>
          <a:p>
            <a:pPr>
              <a:lnSpc>
                <a:spcPct val="120000"/>
              </a:lnSpc>
            </a:pPr>
            <a:endParaRPr lang="vi-VN" sz="1800" dirty="0"/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import pandas as pd, matplotlib.pyplot as plt, seaborn as sns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Bước 1: Đọc dữ liệu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pd.read_csv('sales.csv', encoding='utf-8-sig')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df.info()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Bước 2: Làm sạch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df['ngay'] = pd.to_datetime(df['ngay'], format='%Y-%m-%d')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df.dropna(subset=['doanh_thu'])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 = df.drop_duplicates()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Bước 3: Biến đổi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df['thang'] = df['ngay'].dt.month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df['loi_nhuan'] = df['doanh_thu'] - df['chi_phi']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Bước 4: Tổng hợp theo tháng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dt_thang = df.groupby('thang')['doanh_thu'].sum()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endParaRPr lang="en-US" sz="1500" dirty="0">
              <a:solidFill>
                <a:srgbClr val="1F3864"/>
              </a:solidFill>
              <a:latin typeface="Consolas"/>
            </a:endParaRP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# Bước 5: Vẽ biểu đồ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dt_thang.plot(kind='bar', title='Doanh thu theo thang')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plt.xlabel('Thang')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plt.ylabel('Doanh thu')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plt.tight_layout()</a:t>
            </a:r>
          </a:p>
          <a:p>
            <a:pPr indent="0">
              <a:lnSpc>
                <a:spcPct val="120000"/>
              </a:lnSpc>
              <a:spcAft>
                <a:spcPts val="0"/>
              </a:spcAft>
              <a:buNone/>
            </a:pPr>
            <a:r>
              <a:rPr lang="en-US" sz="1500" dirty="0">
                <a:solidFill>
                  <a:srgbClr val="1F3864"/>
                </a:solidFill>
                <a:latin typeface="Consolas"/>
              </a:rPr>
              <a:t>plt.show()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Tóm tắt Bài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>
            <a:normAutofit fontScale="62500" lnSpcReduction="20000"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2000" b="1" dirty="0"/>
              <a:t>Tóm tắt các nội dung đã học trong Bài 2: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900" b="1" dirty="0"/>
              <a:t>Jupyter Notebook</a:t>
            </a:r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700" dirty="0"/>
              <a:t>Khởi chạy, Dashboard, tạo notebook, Code/Markdown cell, phím tắt, quản lý kernel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900" b="1" dirty="0"/>
              <a:t>Pandas – Cấu trúc dữ liệu</a:t>
            </a:r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700" dirty="0"/>
              <a:t>Series (1D), DataFrame (2D), head/info/shape, indexing với .loc và .iloc, lọc điều kiện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900" b="1" dirty="0"/>
              <a:t>Pandas – Đọc/Ghi dữ liệu</a:t>
            </a:r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700" dirty="0"/>
              <a:t>read_csv(), read_excel(), to_csv(index=False), to_excel(), ExcelWriter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900" b="1" dirty="0"/>
              <a:t>Pandas – Biến đổi &amp; Làm sạch</a:t>
            </a:r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700" dirty="0"/>
              <a:t>Thêm/xoá/rename cột, astype(), to_datetime(), apply(), map(), isna/fillna/dropna, drop_duplicates(), .str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900" b="1" dirty="0"/>
              <a:t>Pandas – Phân tích &amp; Trực quan</a:t>
            </a:r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700" dirty="0"/>
              <a:t>describe(), mean/median/std, value_counts(), corr(), groupby(), agg(), pivot_table(), .plot, Matplotlib, Seaborn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Câu hỏi ôn tập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9100" y="1524000"/>
            <a:ext cx="11353800" cy="4686300"/>
          </a:xfrm>
        </p:spPr>
        <p:txBody>
          <a:bodyPr>
            <a:normAutofit fontScale="77500" lnSpcReduction="20000"/>
          </a:bodyPr>
          <a:lstStyle/>
          <a:p>
            <a:pPr>
              <a:lnSpc>
                <a:spcPct val="100000"/>
              </a:lnSpc>
              <a:spcAft>
                <a:spcPts val="200"/>
              </a:spcAft>
            </a:pPr>
            <a:r>
              <a:rPr lang="vi-VN" sz="1900" b="1" dirty="0"/>
              <a:t>Hãy trả lời các câu hỏi sau để củng cố kiến thức: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800" dirty="0"/>
              <a:t>Jupyter Notebook lưu file với định dạng gì? Làm thế nào để tắt kernel đúng cách?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800" dirty="0"/>
              <a:t>Sự khác biệt giữa .loc và .iloc là gì? Cho ví dụ cụ thể.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800" dirty="0"/>
              <a:t>Khi đọc file CSV tiếng Việt bị lỗi ký tự, cần kiểm tra tham số nào trong pd.read_csv()?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800" dirty="0"/>
              <a:t>Dùng fillna() hay dropna() khi nào? Khi nào nên dùng mean(), khi nào dùng median()?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800" dirty="0"/>
              <a:t>Viết code để: đọc file sales.csv, tạo cột doanh_thu = so_luong * don_gia, lưu ra file kết quả (không lưu index)?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800" dirty="0"/>
              <a:t>Giải thích mô hình Split–Apply–Combine trong groupby bằng ví dụ thực tế.</a:t>
            </a:r>
          </a:p>
          <a:p>
            <a:pPr>
              <a:lnSpc>
                <a:spcPct val="100000"/>
              </a:lnSpc>
            </a:pPr>
            <a:endParaRPr lang="vi-VN" sz="1800" dirty="0"/>
          </a:p>
          <a:p>
            <a:pPr marL="457200">
              <a:lnSpc>
                <a:spcPct val="100000"/>
              </a:lnSpc>
              <a:spcAft>
                <a:spcPts val="200"/>
              </a:spcAft>
            </a:pPr>
            <a:r>
              <a:rPr lang="vi-VN" sz="1800" dirty="0"/>
              <a:t>Seaborn khác Matplotlib ở chỗ nào? Khi nào nên dùng Seaborn thay vì Matplotlib?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 dirty="0"/>
              <a:t>Hỏi &amp; Đáp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Nhat-Tung Le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Các công cụ Khoa học dữ liệu</a:t>
            </a:r>
          </a:p>
        </p:txBody>
      </p:sp>
      <p:sp>
        <p:nvSpPr>
          <p:cNvPr id="8" name="QA Text"/>
          <p:cNvSpPr/>
          <p:nvPr/>
        </p:nvSpPr>
        <p:spPr>
          <a:xfrm>
            <a:off x="3155390" y="2967335"/>
            <a:ext cx="58812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50">
                <a:solidFill>
                  <a:srgbClr val="70AD47">
                    <a:tint val="1000"/>
                  </a:srgbClr>
                </a:solidFill>
              </a:rPr>
              <a:t>Question &amp; Answer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amer">
  <a:themeElements>
    <a:clrScheme name="BeamerBlu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331B4"/>
      </a:accent1>
      <a:accent2>
        <a:srgbClr val="26268C"/>
      </a:accent2>
      <a:accent3>
        <a:srgbClr val="1C1B67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amer" id="{8553229C-AFB2-9E4C-B691-41E9828257B6}" vid="{2E4BD516-3F22-5540-B52C-9D5E7A6B30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fake-beamer</Template>
  <TotalTime>0</TotalTime>
  <Words>4678</Words>
  <Application>Microsoft Office PowerPoint</Application>
  <PresentationFormat>Widescreen</PresentationFormat>
  <Paragraphs>554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CMU Sans Serif</vt:lpstr>
      <vt:lpstr>CMU Sans Serif Medium</vt:lpstr>
      <vt:lpstr>Consolas</vt:lpstr>
      <vt:lpstr>beamer</vt:lpstr>
      <vt:lpstr>CÁC CÔNG CỤ KHOA HỌC DỮ LIỆU</vt:lpstr>
      <vt:lpstr>Mục tiêu bài học</vt:lpstr>
      <vt:lpstr>Nội dung bài học</vt:lpstr>
      <vt:lpstr>Làm quen Jupyter Notebook</vt:lpstr>
      <vt:lpstr>Khởi chạy Jupyter Notebook</vt:lpstr>
      <vt:lpstr>Sử dụng Cells (Ô lệnh)</vt:lpstr>
      <vt:lpstr>Phím tắt và Quản lý Kernel</vt:lpstr>
      <vt:lpstr>Giới thiệu thư viện Pandas</vt:lpstr>
      <vt:lpstr>Cấu trúc dữ liệu Series (1D)</vt:lpstr>
      <vt:lpstr>Cấu trúc dữ liệu DataFrame (2D)</vt:lpstr>
      <vt:lpstr>Indexing &amp; Slicing – Truy xuất dữ liệu</vt:lpstr>
      <vt:lpstr>Đọc dữ liệu từ CSV</vt:lpstr>
      <vt:lpstr>Đọc dữ liệu từ Excel</vt:lpstr>
      <vt:lpstr>Ghi dữ liệu ra CSV và Excel</vt:lpstr>
      <vt:lpstr>Biến đổi dữ liệu – Thao tác với cột</vt:lpstr>
      <vt:lpstr>Biến đổi dữ liệu – Kiểu dữ liệu</vt:lpstr>
      <vt:lpstr>Biến đổi dữ liệu – apply() và map()</vt:lpstr>
      <vt:lpstr>Làm sạch dữ liệu – Xử lý giá trị thiếu</vt:lpstr>
      <vt:lpstr>Làm sạch dữ liệu – Trùng lặp &amp; Chuỗi</vt:lpstr>
      <vt:lpstr>Thống kê mô tả với Pandas</vt:lpstr>
      <vt:lpstr>Ma trận tương quan</vt:lpstr>
      <vt:lpstr>Nhóm dữ liệu với groupby()</vt:lpstr>
      <vt:lpstr>agg() và Pivot Table</vt:lpstr>
      <vt:lpstr>Trực quan hoá với Pandas .plot</vt:lpstr>
      <vt:lpstr>Giới thiệu Matplotlib</vt:lpstr>
      <vt:lpstr>Giới thiệu Seaborn</vt:lpstr>
      <vt:lpstr>Ví dụ tổng hợp – Quy trình phân tích</vt:lpstr>
      <vt:lpstr>Tóm tắt Bài 2</vt:lpstr>
      <vt:lpstr>Câu hỏi ôn tập</vt:lpstr>
      <vt:lpstr>Hỏi &amp; Đáp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 Nhat Tung</dc:creator>
  <cp:lastModifiedBy>Le Nhat Tung</cp:lastModifiedBy>
  <cp:revision>28</cp:revision>
  <dcterms:created xsi:type="dcterms:W3CDTF">2026-04-19T12:13:02Z</dcterms:created>
  <dcterms:modified xsi:type="dcterms:W3CDTF">2026-05-08T01:25:56Z</dcterms:modified>
</cp:coreProperties>
</file>